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64"/>
  </p:notesMasterIdLst>
  <p:handoutMasterIdLst>
    <p:handoutMasterId r:id="rId65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0DEF6"/>
    <a:srgbClr val="184A7C"/>
    <a:srgbClr val="B639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5282F8-7C71-7CA2-390F-C9E13214B52B}" v="1471" dt="2025-06-24T00:43:34.624"/>
    <p1510:client id="{B15C5CED-258E-4907-AFB5-39A31BFA9226}" v="1323" dt="2025-06-24T00:43:41.546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1512" y="72"/>
      </p:cViewPr>
      <p:guideLst/>
    </p:cSldViewPr>
  </p:slideViewPr>
  <p:outlineViewPr>
    <p:cViewPr>
      <p:scale>
        <a:sx n="33" d="100"/>
        <a:sy n="33" d="100"/>
      </p:scale>
      <p:origin x="0" y="-105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558" y="6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64" Type="http://schemas.openxmlformats.org/officeDocument/2006/relationships/notesMaster" Target="notesMasters/notesMaster1.xml"/><Relationship Id="rId65" Type="http://schemas.openxmlformats.org/officeDocument/2006/relationships/handoutMaster" Target="handoutMasters/handout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70" Type="http://schemas.microsoft.com/office/2015/10/relationships/revisionInfo" Target="revisionInfo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B093401-5B51-4F26-BB3D-C83F4D4F85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92990B3-40FA-46D0-AA8B-30F52AB51D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453AF-06A4-4E45-9287-5A34F41F90A5}" type="datetimeFigureOut">
              <a:rPr lang="fr-FR" smtClean="0"/>
              <a:t>16/10/2025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206D23-DDA3-4DCA-B2FF-2C4A8A0FED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26194C6-33DD-469D-98C1-8838806631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5CB6A-E272-476A-A8FA-259BD3099D6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046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960" y="694800"/>
            <a:ext cx="4437000" cy="3428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fr-FR" sz="3270" b="0" strike="noStrike" spc="-1">
                <a:solidFill>
                  <a:srgbClr val="184A7C"/>
                </a:solidFill>
                <a:latin typeface="Arial"/>
              </a:rPr>
              <a:t>Click to move the slide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040"/>
            <a:ext cx="5486040" cy="41144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4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6120" cy="4568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68" name="PlaceHolder 4"/>
          <p:cNvSpPr>
            <a:spLocks noGrp="1"/>
          </p:cNvSpPr>
          <p:nvPr>
            <p:ph type="dt"/>
          </p:nvPr>
        </p:nvSpPr>
        <p:spPr>
          <a:xfrm>
            <a:off x="3881520" y="0"/>
            <a:ext cx="2976120" cy="4568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69" name="PlaceHolder 5"/>
          <p:cNvSpPr>
            <a:spLocks noGrp="1"/>
          </p:cNvSpPr>
          <p:nvPr>
            <p:ph type="ftr"/>
          </p:nvPr>
        </p:nvSpPr>
        <p:spPr>
          <a:xfrm>
            <a:off x="0" y="8686800"/>
            <a:ext cx="2976120" cy="456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70" name="PlaceHolder 6"/>
          <p:cNvSpPr>
            <a:spLocks noGrp="1"/>
          </p:cNvSpPr>
          <p:nvPr>
            <p:ph type="sldNum"/>
          </p:nvPr>
        </p:nvSpPr>
        <p:spPr>
          <a:xfrm>
            <a:off x="3881520" y="8686800"/>
            <a:ext cx="2976120" cy="456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82C07E2A-DA70-4243-A905-49D6FCD7AB83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0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0"/>
          <p:cNvPicPr/>
          <p:nvPr/>
        </p:nvPicPr>
        <p:blipFill>
          <a:blip r:embed="rId14">
            <a:alphaModFix amt="50000"/>
          </a:blip>
          <a:stretch/>
        </p:blipFill>
        <p:spPr>
          <a:xfrm>
            <a:off x="6120" y="0"/>
            <a:ext cx="9131400" cy="685764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360" y="6311520"/>
            <a:ext cx="9143640" cy="546480"/>
          </a:xfrm>
          <a:prstGeom prst="rect">
            <a:avLst/>
          </a:prstGeom>
          <a:solidFill>
            <a:srgbClr val="FFFFFF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tr-TR"/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0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sp>
        <p:nvSpPr>
          <p:cNvPr id="46" name="CustomShape 4"/>
          <p:cNvSpPr/>
          <p:nvPr/>
        </p:nvSpPr>
        <p:spPr>
          <a:xfrm>
            <a:off x="0" y="-6481"/>
            <a:ext cx="9143640" cy="817429"/>
          </a:xfrm>
          <a:prstGeom prst="rect">
            <a:avLst/>
          </a:prstGeom>
          <a:solidFill>
            <a:srgbClr val="FFFFFF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tr-TR"/>
          </a:p>
        </p:txBody>
      </p:sp>
      <p:sp>
        <p:nvSpPr>
          <p:cNvPr id="47" name="CustomShape 5"/>
          <p:cNvSpPr/>
          <p:nvPr/>
        </p:nvSpPr>
        <p:spPr>
          <a:xfrm>
            <a:off x="0" y="810949"/>
            <a:ext cx="4503960" cy="143640"/>
          </a:xfrm>
          <a:prstGeom prst="rect">
            <a:avLst/>
          </a:prstGeom>
          <a:solidFill>
            <a:srgbClr val="B5397D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tr-TR"/>
          </a:p>
        </p:txBody>
      </p:sp>
      <p:sp>
        <p:nvSpPr>
          <p:cNvPr id="48" name="CustomShape 6"/>
          <p:cNvSpPr/>
          <p:nvPr/>
        </p:nvSpPr>
        <p:spPr>
          <a:xfrm>
            <a:off x="4643342" y="6161064"/>
            <a:ext cx="4503960" cy="143640"/>
          </a:xfrm>
          <a:prstGeom prst="rect">
            <a:avLst/>
          </a:prstGeom>
          <a:solidFill>
            <a:srgbClr val="B8B90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tr-TR"/>
          </a:p>
        </p:txBody>
      </p:sp>
      <p:pic>
        <p:nvPicPr>
          <p:cNvPr id="49" name="Image 48"/>
          <p:cNvPicPr/>
          <p:nvPr/>
        </p:nvPicPr>
        <p:blipFill>
          <a:blip r:embed="rId15">
            <a:alphaModFix amt="50000"/>
          </a:blip>
          <a:stretch/>
        </p:blipFill>
        <p:spPr>
          <a:xfrm>
            <a:off x="8420431" y="54752"/>
            <a:ext cx="540690" cy="697320"/>
          </a:xfrm>
          <a:prstGeom prst="rect">
            <a:avLst/>
          </a:prstGeom>
          <a:ln>
            <a:noFill/>
          </a:ln>
        </p:spPr>
      </p:pic>
      <p:sp>
        <p:nvSpPr>
          <p:cNvPr id="50" name="TextShape 7"/>
          <p:cNvSpPr txBox="1"/>
          <p:nvPr/>
        </p:nvSpPr>
        <p:spPr>
          <a:xfrm>
            <a:off x="8054671" y="6387151"/>
            <a:ext cx="1084680" cy="394497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fld id="{BBAF3171-763F-458C-A60D-E63DBA539BD2}" type="slidenum">
              <a:rPr lang="fr-FR" sz="1800" b="1" strike="noStrike" spc="-1" smtClean="0">
                <a:solidFill>
                  <a:srgbClr val="184A7C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pPr algn="ctr"/>
              <a:t>‹#›</a:t>
            </a:fld>
            <a:r>
              <a:rPr lang="fr-FR" sz="1800" b="1" strike="noStrike" spc="-1" dirty="0">
                <a:solidFill>
                  <a:srgbClr val="184A7C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/22</a:t>
            </a: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Shape 7">
            <a:extLst>
              <a:ext uri="{FF2B5EF4-FFF2-40B4-BE49-F238E27FC236}">
                <a16:creationId xmlns:a16="http://schemas.microsoft.com/office/drawing/2014/main" id="{8885AF4B-50C4-95AA-AA2D-FED2772603E9}"/>
              </a:ext>
            </a:extLst>
          </p:cNvPr>
          <p:cNvSpPr txBox="1"/>
          <p:nvPr userDrawn="1"/>
        </p:nvSpPr>
        <p:spPr>
          <a:xfrm>
            <a:off x="1" y="6387151"/>
            <a:ext cx="1260088" cy="394497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fr-FR" sz="1800" b="1" strike="noStrike" spc="-1" dirty="0">
                <a:solidFill>
                  <a:srgbClr val="184A7C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18.06.2025</a:t>
            </a: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Shape 7">
            <a:extLst>
              <a:ext uri="{FF2B5EF4-FFF2-40B4-BE49-F238E27FC236}">
                <a16:creationId xmlns:a16="http://schemas.microsoft.com/office/drawing/2014/main" id="{1F90750D-EC2F-6665-1985-E87C51AB1EB9}"/>
              </a:ext>
            </a:extLst>
          </p:cNvPr>
          <p:cNvSpPr txBox="1"/>
          <p:nvPr userDrawn="1"/>
        </p:nvSpPr>
        <p:spPr>
          <a:xfrm>
            <a:off x="3210418" y="6380834"/>
            <a:ext cx="2587083" cy="394497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fr-FR" sz="1800" b="1" strike="noStrike" spc="-1" dirty="0" err="1">
                <a:solidFill>
                  <a:srgbClr val="184A7C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Galatasaray</a:t>
            </a:r>
            <a:r>
              <a:rPr lang="fr-FR" sz="1800" b="1" strike="noStrike" spc="-1" dirty="0">
                <a:solidFill>
                  <a:srgbClr val="184A7C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 xml:space="preserve"> </a:t>
            </a:r>
            <a:r>
              <a:rPr lang="fr-FR" sz="1800" b="1" strike="noStrike" spc="-1" dirty="0" err="1">
                <a:solidFill>
                  <a:srgbClr val="184A7C"/>
                </a:solidFill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University</a:t>
            </a: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Pink Accent Line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1574800" y="2400300"/>
            <a:ext cx="5981700" cy="128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4800" y="2400300"/>
            <a:ext cx="5981700" cy="1282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defRPr sz="2400" b="1" i="0">
                <a:solidFill>
                  <a:srgbClr val="184A7C"/>
                </a:solidFill>
                <a:latin typeface="Calibri"/>
              </a:defRPr>
            </a:pPr>
            <a:r>
              <a:t>Ontology-Driven Construction of a</a:t>
            </a:r>
            <a:br/>
            <a:r>
              <a:t>Knowledge Graph from Multimodal</a:t>
            </a:r>
            <a:br/>
            <a:r>
              <a:t>Medical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0" y="4635500"/>
            <a:ext cx="5257800" cy="1816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Oguzhan Gungor</a:t>
            </a:r>
            <a:br/>
            <a:r>
              <a:t>Dr. Sultan Nezihe Turhan  •  Asst. Prof. Ozgun Pinarer</a:t>
            </a:r>
            <a:br/>
            <a:r>
              <a:t>Presented to: Dr. Hajer Baazaoui</a:t>
            </a:r>
            <a:br/>
            <a:r>
              <a:t>March 2026</a:t>
            </a:r>
            <a:br/>
            <a:r>
              <a:t>Galatasaray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1/35</a:t>
            </a:r>
          </a:p>
        </p:txBody>
      </p:sp>
      <p:pic>
        <p:nvPicPr>
          <p:cNvPr id="20" name="GSU Emblem"/>
          <p:cNvPicPr/>
          <p:nvPr/>
        </p:nvPicPr>
        <p:blipFill>
          <a:blip r:embed="rId2">
            <a:alphaModFix amt="50000"/>
          </a:blip>
          <a:stretch/>
        </p:blipFill>
        <p:spPr>
          <a:xfrm>
            <a:off x="7731720" y="2311200"/>
            <a:ext cx="867600" cy="1101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Research Question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Literature Gap &amp; Our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659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ADNI Dataset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3774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System Architecture &amp;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Data Integration Pipeline (15 Steps)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Current State: Labeled Property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6118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11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LPG to Knowledge Graph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023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Focus Node: DiseaseStage &amp; Ontology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4348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Focus Node: Patient &amp; Ontology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463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IEEE Big Data 2025: Image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2578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Causal Discovery Plan (Phase 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6692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Discussion Points &amp; Future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143000"/>
            <a:ext cx="4114800" cy="4927600"/>
          </a:xfrm>
          <a:prstGeom prst="rect">
            <a:avLst/>
          </a:prstGeom>
          <a:solidFill>
            <a:srgbClr val="F2F2F2"/>
          </a:solidFill>
          <a:ln w="25400">
            <a:solidFill>
              <a:srgbClr val="184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B5397D"/>
                </a:solidFill>
                <a:latin typeface="Calibri"/>
              </a:defRPr>
            </a:pPr>
            <a:r>
              <a:t>Key Numbers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1874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92D050"/>
                </a:solidFill>
                <a:latin typeface="Calibri"/>
              </a:defRPr>
            </a:pPr>
            <a:r>
              <a:t>407K+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18745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Nodes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4688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92D050"/>
                </a:solidFill>
                <a:latin typeface="Calibri"/>
              </a:defRPr>
            </a:pPr>
            <a:r>
              <a:t>1.16M+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4688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3063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92D050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0632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Node Types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6576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92D050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657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Relationship Types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2519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92D050"/>
                </a:solidFill>
                <a:latin typeface="Calibri"/>
              </a:defRPr>
            </a:pPr>
            <a:r>
              <a:t>2,638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2519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ADNI Patients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48463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92D050"/>
                </a:solidFill>
                <a:latin typeface="Calibri"/>
              </a:defRPr>
            </a:pPr>
            <a:r>
              <a:t>180+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846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Source Tables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400" b="1" i="0">
                <a:solidFill>
                  <a:srgbClr val="B5397D"/>
                </a:solidFill>
                <a:latin typeface="Calibri"/>
              </a:defRPr>
            </a:pPr>
            <a:r>
              <a:t>How can we construct a semantically-grounded Knowledge Graph from multimodal Alzheimer's disease data that enables data-driven causal discovery?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Knowledge Engineering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68880"/>
            <a:ext cx="4206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Transform ADNI's heterogeneous clinical, imaging, biomarker, and genetic data into a unified, ontology-grounded graph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Scientific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4206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Discover and validate causal relationships in the AD biomarker cascade (amyloid → tau → neurodegeneration → cognitive decline)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3/35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Literature Gap &amp; Our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Existing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Spassov et al. (2024): AD KG on Neo4j but limited 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Yang et al. (2025): GPT-4 literature-based KG, no patient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Romano et al. (2024): AlzKB — 118K entities, literature-derived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Lyu et al. (2025): Causal structures for KG but not AD-specific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1430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B5397D"/>
                </a:solidFill>
                <a:latin typeface="Calibri"/>
              </a:defRPr>
            </a:pPr>
            <a:r>
              <a:t>Our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Data-driven KG from real ADNI patient observations (not literature)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Full ontology grounding: SNOMED-CT, LOINC, UBERON, Relation Ontology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3464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Multi-tier lossless image storage (IEEE Big Data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5760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Causal discovery integrated back into KG (Phase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4/35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Three Scientific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4389120"/>
          </a:xfrm>
          <a:prstGeom prst="rect">
            <a:avLst/>
          </a:prstGeom>
          <a:solidFill>
            <a:srgbClr val="92D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Engineering (Published)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24688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Multi-tier medical imaging architecture, 100% quality preservation, IEEE Big Data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097280"/>
            <a:ext cx="2743200" cy="4389120"/>
          </a:xfrm>
          <a:prstGeom prst="rect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2801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Knowledge Engineering (Phase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94560"/>
            <a:ext cx="24688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LPG → KG semantic migration, ontology grounding, methodology generalizable to other clinical datasets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97280"/>
            <a:ext cx="2743200" cy="4389120"/>
          </a:xfrm>
          <a:prstGeom prst="rect">
            <a:avLst/>
          </a:prstGeom>
          <a:solidFill>
            <a:srgbClr val="B5397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801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Data Science (Phases 2-3)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194560"/>
            <a:ext cx="24688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Causal structure discovery from ADNI, provenance-annotated causal edges, AlzKB cross-validation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5/35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ADNI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Multi-center longitudinal study (ADNI 1/2/GO/3/4)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2,638 participants: CN, SMC, EMCI, LMCI, 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180+ tables, 5,800+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Modalities: Clinical assessments, MRI, PET, CSF biomarkers, genetics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6032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Data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26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Demographics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PTDEMOG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832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Cognitive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3832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ADAS, MMSE, CDR, MoCA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Biomarkers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404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UPENNBIOMK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Imaging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976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UCSFFSX7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54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Genetics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7548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APOERES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6/35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0" i="1">
                <a:solidFill>
                  <a:srgbClr val="F2F2F2"/>
                </a:solidFill>
                <a:latin typeface="Calibri"/>
              </a:defRPr>
            </a:pPr>
            <a:r>
              <a:t>[Architecture Diagram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6032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Three-Tier Infrastructure: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Neo4j: Labeled Property Graph → Knowledge Graph (407K nodes, 1.16M edges)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Elasticsearch: Metadata search, ms-level retrieval (5 indices)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Redis: Caching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6344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File System: DICOM/TIFF/PNG storage with deduplication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7/35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Infrastructure: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Neo4j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430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bolt://localhost:7687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Elasticsearch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830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localhost:9200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Redis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231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localhost:6379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Python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632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16 parallel 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Configuration Highlights: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49039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batch_size=1000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39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use_unwind=true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63439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incremental mode enabled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8/35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15-Step ETL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43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Database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1430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143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Load Tables (108 CSVs)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143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Create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5544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Family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54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5544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Image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Clinical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9659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1965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Batch 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9659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965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9659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9659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KG Enhancement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377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3774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Analytical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377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3774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Biomarker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3774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3774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Graph Enhancement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7889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2788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Graph EDA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7889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2788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Research Queries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7889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FFC000"/>
                </a:solidFill>
                <a:latin typeface="Calibri"/>
              </a:defRPr>
            </a:pPr>
            <a:r>
              <a:t>Step 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788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Event-Based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9/35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Pipeline: Data Loading &amp; Patient Creation (Steps 2-3)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108 ADNI CSV tables loaded with memory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Category-based organization: Demographics, Cognitive, Biomarkers, Imaging, Clinical, Genetics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8892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Patient node creation from PTDEMOG: PTID, RID, gender, age, education, APOE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Visit node creation with temporal ordering (bl, m06, m12... m96)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MERGE operations for natural upsert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10/35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Pipeline: Medical Image Processing (Step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16 parallel workers, 500 images/second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Formats: DICOM → lossless TIFF + 16-bit PNG + JPEG thumbnail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Auto window/level (2nd-98th percentile)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Elasticsearch indexing (500 images/batch)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LMDB checkpointing for resume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Deduplication via image hashing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Results: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92D050"/>
                </a:solidFill>
                <a:latin typeface="Calibri"/>
              </a:defRPr>
            </a:pPr>
            <a:r>
              <a:t>• 100% pixel preservation, 100% bit depth preservation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92D050"/>
                </a:solidFill>
                <a:latin typeface="Calibri"/>
              </a:defRPr>
            </a:pPr>
            <a:r>
              <a:t>• MRI: 62/62 passed | PET: 38/38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11/35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Pipeline: Clinical Findings &amp; Biomarkers (Steps 6, 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Diagnosis &amp; 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Diagnosis: DXSUM, CDR, MMSE (CN/MCI/EMCI/LMCI/AD)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ADAS-Cog, MMSE, CDR, MoCA with subscores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Temporal tracking across visits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1430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B5397D"/>
                </a:solidFill>
                <a:latin typeface="Calibri"/>
              </a:defRPr>
            </a:pPr>
            <a:r>
              <a:t>Biomarkers &amp; Genetics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8872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CSF: Aβ42, tau, pTau (UPENNBIOMK)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Thresholds: Aβ42 &lt; 880, pTau &gt; 26.64, tau &gt; 300 pg/mL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APOE genotype (E2/E3/E4)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8328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• ATN framework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12/35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Pipeline: Relationship Creation (Step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16 Relationship Types Created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HAS_VISIT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HAS_DIAGNOSIS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PROGRESSES_TO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188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PRECEDES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CORRELATES_WITH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INFORMS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CARRIERS_APOE_ALLELE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031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IN_STAGE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B5397D"/>
                </a:solidFill>
                <a:latin typeface="Calibri"/>
              </a:defRPr>
            </a:pPr>
            <a:r>
              <a:t>Total: 1,157,797 relationships across 30+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13/35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Pipeline: Semantic Enhancement (Step 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Disease Stage Progression Network: CN → SMC → EMCI → LMCI → 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2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ATN Framework: 8 biomarker profiles (A+/-T+/-N+/-)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Biomarker-Diagnosis associations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Cognitive decline trajectories (linear regression)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Risk factor network (APOE, age, education)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0060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Clinical phenotype 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14/35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Current Graph: 17 Node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Patient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143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143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DiseaseStage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600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Biomarker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00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BiomarkerProfile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CognitiveAssessment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0574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MedicalImage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0574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ImageSeries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5146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BrainRegion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5146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GeneticProfile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5146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RiskFactor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ClinicalFinding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971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FamilyMember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971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AdverseEvent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429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429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ResearchProtocol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292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200" b="0" i="1">
                <a:solidFill>
                  <a:srgbClr val="F2F2F2"/>
                </a:solidFill>
                <a:latin typeface="Calibri"/>
              </a:defRPr>
            </a:pPr>
            <a:r>
              <a:t>[Neo4j Schema Visualization Placeholder]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15/35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Current Graph: 30+ Relationship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HAS_VISIT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1430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Patient → 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1430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HAS_DIAGNOSIS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1430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Visit →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IN_STAGE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Diagnosis → DiseaseStage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544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PROGRESSES_TO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5544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Stage →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HAS_BIOMARKER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965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Visit → BiomarkerProfile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965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9659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Profile → Biomarker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3774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HAS_COGNITIVE_ASSESSMENT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3774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Visit → CognitiveAssessment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HAS_IMAGING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3774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Visit → ImageSeries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788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CONTAINS_IMAGE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788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Series → MedicalImage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788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HAS_BRAIN_REGION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788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Image → BrainRegion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200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HAS_GENETIC_PROFILE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200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Patient → GeneticProfile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200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ASSOCIATED_WITH_RISK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004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Diagnosis → RiskFactor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6118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INDICATES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6118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Biomarker → ClinicalFinding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6118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CORRELATES_WITH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6118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Biomarker → Biomarker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0233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B5397D"/>
                </a:solidFill>
                <a:latin typeface="Calibri"/>
              </a:defRPr>
            </a:pPr>
            <a:r>
              <a:t>FAMILY_HISTORY_OF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0233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FamilyMember → Diagnosis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16/35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From LPG to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Labeled Property Graph 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Optimized for graph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Nodes have labels and 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Relationships have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71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No formal semantic 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14300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B5397D"/>
                </a:solidFill>
                <a:latin typeface="Calibri"/>
              </a:defRPr>
            </a:pPr>
            <a:r>
              <a:t>Knowledge Graph (Target)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Formal semantic meaning via ontologies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783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Nodes grounded in SNOMED-CT, LOINC, UBERON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774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Relationships mapped to Relation Ontology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71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Enables reasoning, inference, interoperability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661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Can link to external KBs (AlzKB)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17/35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Phase 1: In-Place Semantic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1">
                <a:solidFill>
                  <a:srgbClr val="404040"/>
                </a:solidFill>
                <a:latin typeface="Calibri"/>
              </a:defRPr>
            </a:pPr>
            <a:r>
              <a:t>Goal: Add ontology properties without rebuilding the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Actions: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Add ontology_uri to all node labels (Patient → SNOMED-CT 116154003)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Add loinc_code to Biomarker nodes (ABETA42 → LOINC 57973-5)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Add uberon_id to BrainRegion nodes (hippocampus → UBERON:0001954)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Map relationships to Relation Ontology (INDICATES → RO:0000059)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Add source_table/source_column 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1208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Create OntologyTerm nodes with MAPPED_TO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4864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92D050"/>
                </a:solidFill>
                <a:latin typeface="Calibri"/>
              </a:defRPr>
            </a:pPr>
            <a:r>
              <a:t>Quality Check: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52160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MATCH (b:Biomarker) WHERE b.loinc_code IS NULL RETURN count(b) →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18/35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Focus Node: DiseaseStage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84A7C"/>
                </a:solidFill>
                <a:latin typeface="Calibri"/>
              </a:defRPr>
            </a:pPr>
            <a:r>
              <a:t>Disease Progression with SNOMED Codes: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SNOMED 17621005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887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(Cognitively Normal)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SMC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SNOMED 386807006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6459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(Subjective Memory Complaint)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EMCI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031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SNOMED 72854003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031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(Early MCI)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603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LMCI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60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SNOMED 72854003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560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(Late MCI)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017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175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SNOMED 26929004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0175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(Alzheimer's Disease)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84A7C"/>
                </a:solidFill>
                <a:latin typeface="Calibri"/>
              </a:defRPr>
            </a:pPr>
            <a:r>
              <a:t>ATN Framework (Biomarker Profiles):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8404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92D050"/>
                </a:solidFill>
                <a:latin typeface="Calibri"/>
              </a:defRPr>
            </a:pPr>
            <a:r>
              <a:t>A (Amyloid)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84048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CSF Aβ42, Aβ42/Aβ40, PET SUVR — Abnormal: Aβ42 &lt; 880 pg/mL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80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92D050"/>
                </a:solidFill>
                <a:latin typeface="Calibri"/>
              </a:defRPr>
            </a:pPr>
            <a:r>
              <a:t>T (Tau)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48056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CSF pTau, Total Tau — Abnormal: pTau &gt; 26.64 pg/mL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92D050"/>
                </a:solidFill>
                <a:latin typeface="Calibri"/>
              </a:defRPr>
            </a:pPr>
            <a:r>
              <a:t>N (Neurodegeneration)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12064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Hippocampal volume, FDG-PET — Abnormal: HV &lt; 6,732 mm³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19/35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Focus Node: 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84A7C"/>
                </a:solidFill>
                <a:latin typeface="Calibri"/>
              </a:defRPr>
            </a:pPr>
            <a:r>
              <a:t>Patient Hub Node with All Connections: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Demographics: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18872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age, gender, education, ethnicity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Genetic: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373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APOE genotype (E2/E3/E4), GWAS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Clinical: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visits, diagnoses, cognitive assessments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Biomarkers: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CSF, blood, plasma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3832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Imaging: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MRI series, PET scans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319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Family: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93192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family history of dementia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002060"/>
                </a:solidFill>
                <a:latin typeface="Calibri"/>
              </a:defRPr>
            </a:pPr>
            <a:r>
              <a:t>Note: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2064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"Ontology for patient attributes needs to be developed — this is a key discussion point with Hajer"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20/35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Ontology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Patient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1430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143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SNOMED-CT 116154003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1430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Alzheimer Disease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1430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1143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SNOMED-CT 26929004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CSF Aβ42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6002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LOINC 57973-5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600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CSF pTau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6002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LOINC 53817-7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0574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CSF Total Tau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057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LOINC 48543-0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0574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Hippocampus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0574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057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UBERON 0001954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514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Entorhinal cortex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5146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5146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UBERON 0002728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514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HAS_PART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5146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5146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RO:0000051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971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CAUSALLY_UPSTREAM_OF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9718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2971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RO:0002404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21/35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IEEE Big Data 2025: Published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200" b="0" i="1">
                <a:solidFill>
                  <a:srgbClr val="B5397D"/>
                </a:solidFill>
                <a:latin typeface="Calibri"/>
              </a:defRPr>
            </a:pPr>
            <a:r>
              <a:t>A Knowledge-Driven Multi-Tier Architecture for Lossless Medical Image Storage</a:t>
            </a:r>
            <a:br/>
            <a:r>
              <a:t>and Sub-Second Retrieval in Large-Scale Neuroimaging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3736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Three-Tier Results: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• Neo4j: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9456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407K nodes, 1.16M 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• Elasticsearch: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4320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5 indices, ms-level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• File System: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29184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Lossless DICOM preservation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22/35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Query Performance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84A7C"/>
                </a:solidFill>
                <a:latin typeface="Calibri"/>
              </a:defRPr>
            </a:pPr>
            <a:r>
              <a:t>Query Complexity Classes: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C1 (Simple)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3.1 ms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C2 (Moderate)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6.4 ms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C3 (Complex)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688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33.6 ms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08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C4 (Research)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10896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7,318.2 ms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490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C5 (Analytical)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490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51.4 ms 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23/35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Image Quality Preservation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84A7C"/>
                </a:solidFill>
                <a:latin typeface="Calibri"/>
              </a:defRPr>
            </a:pPr>
            <a:r>
              <a:t>Key Results: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92D050"/>
                </a:solidFill>
                <a:latin typeface="Calibri"/>
              </a:defRPr>
            </a:pPr>
            <a:r>
              <a:t>• Pixel Value Preservation: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92D050"/>
                </a:solidFill>
                <a:latin typeface="Calibri"/>
              </a:defRPr>
            </a:pPr>
            <a:r>
              <a:t>• Bit Depth Preservation: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92D050"/>
                </a:solidFill>
                <a:latin typeface="Calibri"/>
              </a:defRPr>
            </a:pPr>
            <a:r>
              <a:t>• MRI: 62/62 passed (100%)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7180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92D050"/>
                </a:solidFill>
                <a:latin typeface="Calibri"/>
              </a:defRPr>
            </a:pPr>
            <a:r>
              <a:t>• PET: 38/38 passed (100%)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92D050"/>
                </a:solidFill>
                <a:latin typeface="Calibri"/>
              </a:defRPr>
            </a:pPr>
            <a:r>
              <a:t>• Metadata Completeness: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All formats: DICOM → TIFF → PNG lossless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24/35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Temporal Structure &amp; Dynamic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84A7C"/>
                </a:solidFill>
                <a:latin typeface="Calibri"/>
              </a:defRPr>
            </a:pPr>
            <a:r>
              <a:t>Event-Based Model (Step 15):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Visit-level temporal chains: bl → m06 → m12 → m24...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Disease state transitions: HEALTHY → SCD → MCI → DEMENTIA → 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Time attribute on all visit-linked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New data can be inserted incrementally (incremental mode in config)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002060"/>
                </a:solidFill>
                <a:latin typeface="Calibri"/>
              </a:defRPr>
            </a:pPr>
            <a:r>
              <a:t>Discussion Note: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We need to discuss with Hajer: does 'dynamic' mean temporal structure or ability to insert new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25/35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Data Flow: From ADNI to 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0" i="1">
                <a:solidFill>
                  <a:srgbClr val="F2F2F2"/>
                </a:solidFill>
                <a:latin typeface="Calibri"/>
              </a:defRPr>
            </a:pPr>
            <a:r>
              <a:t>[Data Flow Diagram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ADNI IDA Portal → CSV Download → 15-step Pipeline → Neo4j KG + Elasticsearch + File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7548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92D050"/>
                </a:solidFill>
                <a:latin typeface="Calibri"/>
              </a:defRPr>
            </a:pPr>
            <a:r>
              <a:t>MSc Work: Steps 1-14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2120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B5397D"/>
                </a:solidFill>
                <a:latin typeface="Calibri"/>
              </a:defRPr>
            </a:pPr>
            <a:r>
              <a:t>France Collaboration: Phase 2 (causal) and Phase 3 (validation)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26/35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Phase 2: Causal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84A7C"/>
                </a:solidFill>
                <a:latin typeface="Calibri"/>
              </a:defRPr>
            </a:pPr>
            <a:r>
              <a:t>Goal: Apply PC, FCI, GES/FGES, DAG-GNN to ADNI baseline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184A7C"/>
                </a:solidFill>
                <a:latin typeface="Calibri"/>
              </a:defRPr>
            </a:pPr>
            <a:r>
              <a:t>Expected Causal Graph (Jack 2010 + Bilgel 2022):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ctr">
              <a:lnSpc>
                <a:spcPct val="100000"/>
              </a:lnSpc>
              <a:defRPr sz="1300" b="1" i="0">
                <a:solidFill>
                  <a:srgbClr val="92D050"/>
                </a:solidFill>
                <a:latin typeface="Calibri"/>
              </a:defRPr>
            </a:pPr>
            <a:r>
              <a:t>Aβ42↓</a:t>
            </a:r>
          </a:p>
          <a:p>
            <a:pPr algn="ctr">
              <a:lnSpc>
                <a:spcPct val="100000"/>
              </a:lnSpc>
              <a:defRPr sz="1300" b="1" i="0">
                <a:solidFill>
                  <a:srgbClr val="000000"/>
                </a:solidFill>
                <a:latin typeface="Calibri"/>
              </a:defRPr>
            </a:pPr>
            <a:r>
              <a:t xml:space="preserve"> → </a:t>
            </a:r>
          </a:p>
          <a:p>
            <a:pPr algn="ctr">
              <a:lnSpc>
                <a:spcPct val="100000"/>
              </a:lnSpc>
              <a:defRPr sz="1300" b="1" i="0">
                <a:solidFill>
                  <a:srgbClr val="FFC000"/>
                </a:solidFill>
                <a:latin typeface="Calibri"/>
              </a:defRPr>
            </a:pPr>
            <a:r>
              <a:t>pTau↑</a:t>
            </a:r>
          </a:p>
          <a:p>
            <a:pPr algn="ctr">
              <a:lnSpc>
                <a:spcPct val="100000"/>
              </a:lnSpc>
              <a:defRPr sz="1300" b="1" i="0">
                <a:solidFill>
                  <a:srgbClr val="000000"/>
                </a:solidFill>
                <a:latin typeface="Calibri"/>
              </a:defRPr>
            </a:pPr>
            <a:r>
              <a:t xml:space="preserve"> → </a:t>
            </a:r>
          </a:p>
          <a:p>
            <a:pPr algn="ctr">
              <a:lnSpc>
                <a:spcPct val="100000"/>
              </a:lnSpc>
              <a:defRPr sz="1300" b="1" i="0">
                <a:solidFill>
                  <a:srgbClr val="B5397D"/>
                </a:solidFill>
                <a:latin typeface="Calibri"/>
              </a:defRPr>
            </a:pPr>
            <a:r>
              <a:t>Hippocampal atrophy↓</a:t>
            </a:r>
          </a:p>
          <a:p>
            <a:pPr algn="ctr">
              <a:lnSpc>
                <a:spcPct val="100000"/>
              </a:lnSpc>
              <a:defRPr sz="1300" b="1" i="0">
                <a:solidFill>
                  <a:srgbClr val="000000"/>
                </a:solidFill>
                <a:latin typeface="Calibri"/>
              </a:defRPr>
            </a:pPr>
            <a:r>
              <a:t xml:space="preserve"> → </a:t>
            </a:r>
          </a:p>
          <a:p>
            <a:pPr algn="ctr">
              <a:lnSpc>
                <a:spcPct val="100000"/>
              </a:lnSpc>
              <a:defRPr sz="1300" b="1" i="0">
                <a:solidFill>
                  <a:srgbClr val="184A7C"/>
                </a:solidFill>
                <a:latin typeface="Calibri"/>
              </a:defRPr>
            </a:pPr>
            <a:r>
              <a:t>ADAS-Cog↑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6032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(Biomarker cascade → Cognitive Decline)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27/35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Variable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Amyloid: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14300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ABETA42, ABETA42/ABETA40 ratio, PET SUVR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Tau: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8308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TAU, PTAU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Neurodegeneration: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2316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Hippocampal volume (ST29SV, ST30SV), Ventricle volume (ST42SV)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Cognition: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6324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ADAS.TOTSCORE, CDR.CDRSB, MMSE.MMSCORE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033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Confounders: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0332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Age, APOE4, Education, Gender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343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Filter: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34340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VISCODE2 = 'bl' (baseline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Phase 3: AlzKB Validation &amp; KG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Cross-validate discovered causal edges against AlzKB (118,902 entities, 1,309,527 relationships)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Map node URIs (LOINC, SNOMED, UBERON) to AlzKB entity identifiers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New relationship type: CAUSALLY_PRECEDES {algorithm, p_value, confidence, validated_by}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8620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Reference: Lyu et al. (2025) as methodological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29/35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CauAD European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Partnership between Galatasaray University and CY Cergy Paris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2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EPBrainHealth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Galatasaray: KG construction, image architecture, semantic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France: Causal discovery guidance, validation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Joint goal: Causal edges integrated into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Timeline: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Target completion June 30,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30/35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Discussion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FC000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We focus on 2 nodes: Disease (connect to existing KB) and Patient (develop ontology for patient attributes — not started yet)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FC000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What does "dynamic" mean? Temporal structure or insert-on-new-data capability?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2316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FC000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What is France's contribution to the project?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6324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FC000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We expect guidance from France on causality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0332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FC000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03320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What should be done with images beyond storage?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FC000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43400"/>
            <a:ext cx="7909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0">
                <a:solidFill>
                  <a:srgbClr val="404040"/>
                </a:solidFill>
                <a:latin typeface="Calibri"/>
              </a:defRPr>
            </a:pPr>
            <a:r>
              <a:t>Do you approve the proposed flow: KG → Causal Discovery → Validation?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303520"/>
            <a:ext cx="8595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1">
                <a:solidFill>
                  <a:srgbClr val="404040"/>
                </a:solidFill>
                <a:latin typeface="Calibri"/>
              </a:defRPr>
            </a:pPr>
            <a:r>
              <a:t>Framed as: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577840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1">
                <a:solidFill>
                  <a:srgbClr val="B5397D"/>
                </a:solidFill>
                <a:latin typeface="Calibri"/>
              </a:defRPr>
            </a:pPr>
            <a:r>
              <a:t>"Our goal is to engage Hajer in discussion and get feedback"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31/35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Expected Guidance from CY Cergy Paris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Direction on causal discovery methodology (which algorithms to prioritize)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Feedback on our 2-node ontology focus (Disease + Patient)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Definition of "dynamic KG"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7472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Image analysis beyond storage (feature extraction? classification?)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Validation approach for discovered causal 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02920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Timeline alignment for June 30 deadline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32/35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Future Work &amp;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Present current state to Hajer (this meeting)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8308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Complete Phase 1 semantic migration, begin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42316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Causal discovery experiments, thesis defense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6324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Phase 3 validation, environment finalization, performance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033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B5397D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70332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International journal paper + review article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8912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Deliverables: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548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Environment fully set up and tested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Measure insertion time for new MRI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Test pipeline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33/35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1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10260"/>
            <a:ext cx="4503420" cy="14351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3120" y="6159500"/>
            <a:ext cx="4503420" cy="143510"/>
          </a:xfrm>
          <a:prstGeom prst="rect">
            <a:avLst/>
          </a:prstGeom>
          <a:solidFill>
            <a:srgbClr val="B8B9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640" y="147320"/>
            <a:ext cx="6350000" cy="4381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184A7C"/>
                </a:solidFill>
                <a:latin typeface="Calibri"/>
              </a:defRPr>
            </a:pPr>
            <a:r>
              <a:t>Publications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Published: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050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000" b="0" i="1">
                <a:solidFill>
                  <a:srgbClr val="B5397D"/>
                </a:solidFill>
                <a:latin typeface="Calibri"/>
              </a:defRPr>
            </a:pPr>
            <a:r>
              <a:t>IEEE Big Data 2025: "A Knowledge-Driven Multi-Tier Architecture for Lossless Medical Image Storage and Sub-Second Retrieval in Large-Scale Neuroimaging Studies"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184A7C"/>
                </a:solidFill>
                <a:latin typeface="Calibri"/>
              </a:defRPr>
            </a:pPr>
            <a:r>
              <a:t>Key References: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Jack et al. (2010) - Biomarker cascade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Bilgel et al. (2022) - Causal links in 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Shen et al. (2020) - Causal discovery on ADNI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Romano et al. (2024) - AlzKB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404040"/>
                </a:solidFill>
                <a:latin typeface="Calibri"/>
              </a:defRPr>
            </a:pPr>
            <a:r>
              <a:t>• Lyu et al. (2025) - Causal structures for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324600"/>
            <a:ext cx="12573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28.03.2026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6324600"/>
            <a:ext cx="25781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9100" y="6324600"/>
            <a:ext cx="1079500" cy="3937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400" b="1" i="0">
                <a:solidFill>
                  <a:srgbClr val="184A7C"/>
                </a:solidFill>
                <a:latin typeface="Calibri"/>
              </a:defRPr>
            </a:pPr>
            <a:r>
              <a:t>34/35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B539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8595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200400"/>
            <a:ext cx="8595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2400" b="0" i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Oguzhan Gungor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gungoro@mef.edu.tr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Galatasaray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212080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200" b="0" i="1">
                <a:solidFill>
                  <a:srgbClr val="FFFFFF"/>
                </a:solidFill>
                <a:latin typeface="Calibri"/>
              </a:defRPr>
            </a:pPr>
            <a:r>
              <a:t>March 2026</a:t>
            </a:r>
          </a:p>
        </p:txBody>
      </p:sp>
      <p:pic>
        <p:nvPicPr>
          <p:cNvPr id="99" name="GSU Emblem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8200000" y="54752"/>
            <a:ext cx="750000" cy="95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15013</TotalTime>
  <Words>4061</Words>
  <Application>Microsoft Office PowerPoint</Application>
  <PresentationFormat>Ekran Gösterisi (4:3)</PresentationFormat>
  <Paragraphs>928</Paragraphs>
  <Slides>61</Slides>
  <Notes>61</Notes>
  <HiddenSlides>3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61</vt:i4>
      </vt:variant>
    </vt:vector>
  </HeadingPairs>
  <TitlesOfParts>
    <vt:vector size="69" baseType="lpstr">
      <vt:lpstr>Arial</vt:lpstr>
      <vt:lpstr>Calibri</vt:lpstr>
      <vt:lpstr>Symbol</vt:lpstr>
      <vt:lpstr>Times New Roman</vt:lpstr>
      <vt:lpstr>Tw Cen MT</vt:lpstr>
      <vt:lpstr>Wingdings</vt:lpstr>
      <vt:lpstr>Office Theme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M. Berkay Pala</dc:creator>
  <dc:description/>
  <cp:lastModifiedBy>M. Berkay Pala</cp:lastModifiedBy>
  <cp:revision>1676</cp:revision>
  <dcterms:created xsi:type="dcterms:W3CDTF">2013-08-22T13:16:11Z</dcterms:created>
  <dcterms:modified xsi:type="dcterms:W3CDTF">2025-10-16T20:03:44Z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14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14</vt:i4>
  </property>
</Properties>
</file>